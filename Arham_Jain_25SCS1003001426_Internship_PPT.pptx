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image" Target="../media/image-1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6234A"/>
          </a:solidFill>
          <a:ln/>
        </p:spPr>
      </p:sp>
      <p:pic>
        <p:nvPicPr>
          <p:cNvPr id="3" name="Image 0" descr="/home/claude/work/ppt/assets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66928" cy="3749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572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34440" y="731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  —  ARTIFICIAL INTELLIGENCE INTERNSHIP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7040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Prediction &amp; Spotify Songs’ Genre Segmentation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7033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Internship Presentation Report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897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December 2025 – 05 January 2026 (1 Month)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0" y="502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EA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CREDENTIALS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86868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1D2C58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0058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458200" y="1572768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/ Roll No.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458200" y="1783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25SCS1003001426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157276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Section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058400" y="17830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CSE-AI/ML, 2CSE-22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0" y="5532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4C77E8"/>
          </a:solidFill>
          <a:ln/>
        </p:spPr>
      </p:sp>
      <p:sp>
        <p:nvSpPr>
          <p:cNvPr id="19" name="Text 16"/>
          <p:cNvSpPr/>
          <p:nvPr/>
        </p:nvSpPr>
        <p:spPr>
          <a:xfrm>
            <a:off x="8458200" y="5632704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ORGANIZATION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8458200" y="58338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58200" y="6108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Industry-Mentored AI Internship Program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&amp;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63624"/>
            <a:ext cx="54864" cy="40965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candi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282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733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Details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167128"/>
            <a:ext cx="4800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25SCS1003001426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– AI/ML (IBM-ICE)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2CSE-22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2025-2029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563624"/>
            <a:ext cx="54864" cy="40965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72821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67335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Profile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167128"/>
            <a:ext cx="48006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Name: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 — Artificial Intelligence Internship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Undertaken: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(Cardiovascular Disease Prediction; Spotify Genre Segmentation)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(05 Dec 2025 – 05 Jan 2026)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 Dice ID: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CRZ140452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Head:  </a:t>
            </a:r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Hemant Ingle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Profile: Corizo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Corizo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Indian ed-tech platform that provides internships, professional training programs, career guidance and mentorship to engineering and management students, aiming to bridge the gap between classroom learning and industry requirements.</a:t>
            </a:r>
            <a:endParaRPr lang="en-US" sz="1350" dirty="0"/>
          </a:p>
        </p:txBody>
      </p:sp>
      <p:pic>
        <p:nvPicPr>
          <p:cNvPr id="5" name="Image 0" descr="/home/claude/work/ppt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80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280720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Model: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Pairs learners with experienced industry mentors through a structured, project-based curriculum.</a:t>
            </a:r>
            <a:endParaRPr lang="en-US" sz="1250" dirty="0"/>
          </a:p>
        </p:txBody>
      </p:sp>
      <p:pic>
        <p:nvPicPr>
          <p:cNvPr id="7" name="Image 1" descr="/home/claude/work/ppt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76732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 Training: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 programs across Data Science, Machine Learning, Web Development, Cyber Security and Cloud Computing.</a:t>
            </a:r>
            <a:endParaRPr lang="en-US" sz="1250" dirty="0"/>
          </a:p>
        </p:txBody>
      </p:sp>
      <p:pic>
        <p:nvPicPr>
          <p:cNvPr id="9" name="Image 2" descr="/home/claude/work/ppt/icons/aw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0060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472744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Certification: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Issues an internship completion certificate on successful evaluation of assigned project work.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7818120" y="160020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1D2C58"/>
          </a:solidFill>
          <a:ln/>
        </p:spPr>
      </p:sp>
      <p:sp>
        <p:nvSpPr>
          <p:cNvPr id="12" name="Text 7"/>
          <p:cNvSpPr/>
          <p:nvPr/>
        </p:nvSpPr>
        <p:spPr>
          <a:xfrm>
            <a:off x="7955280" y="1691640"/>
            <a:ext cx="35204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7955280" y="2337206"/>
            <a:ext cx="3520440" cy="404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PROJECTS COMPLETED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7818120" y="292608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1D2C58"/>
          </a:solidFill>
          <a:ln/>
        </p:spPr>
      </p:sp>
      <p:sp>
        <p:nvSpPr>
          <p:cNvPr id="15" name="Text 10"/>
          <p:cNvSpPr/>
          <p:nvPr/>
        </p:nvSpPr>
        <p:spPr>
          <a:xfrm>
            <a:off x="7955280" y="3017520"/>
            <a:ext cx="35204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96,965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7955280" y="3663086"/>
            <a:ext cx="3520440" cy="404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DATASET RECORDS ANALYZED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818120" y="425196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1D2C58"/>
          </a:solidFill>
          <a:ln/>
        </p:spPr>
      </p:sp>
      <p:sp>
        <p:nvSpPr>
          <p:cNvPr id="18" name="Text 13"/>
          <p:cNvSpPr/>
          <p:nvPr/>
        </p:nvSpPr>
        <p:spPr>
          <a:xfrm>
            <a:off x="7955280" y="4343400"/>
            <a:ext cx="35204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7955280" y="4988966"/>
            <a:ext cx="3520440" cy="4041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&amp; CHARTS PRODUCED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Objectives &amp;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92224"/>
            <a:ext cx="54864" cy="31821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441448"/>
            <a:ext cx="2075688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 and engineer features across two real-world datasets of over 96,000 combined records.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01568" y="173736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1792224"/>
            <a:ext cx="54864" cy="31821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38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9936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94176" y="2441448"/>
            <a:ext cx="2075688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distributions, relationships and correlations to understand each dataset before modeling.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54496" y="173736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792224"/>
            <a:ext cx="54864" cy="31821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6" name="Image 2" descr="/home/claude/work/ppt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9385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47104" y="2441448"/>
            <a:ext cx="2075688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five supervised classifiers for disease prediction, and apply K-Means clustering for genre segmentation.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07424" y="1737360"/>
            <a:ext cx="2624328" cy="329184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07424" y="1792224"/>
            <a:ext cx="54864" cy="318211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21" name="Image 3" descr="/home/claude/work/ppt/icons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19385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65792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Insight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00032" y="2441448"/>
            <a:ext cx="2075688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on accuracy, precision, recall and F1-score; interpret clusters against real genre labels.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2624328" cy="301752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92224"/>
            <a:ext cx="54864" cy="290779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9385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441448"/>
            <a:ext cx="2075688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Pandas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NumPy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01568" y="1737360"/>
            <a:ext cx="2624328" cy="301752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01568" y="1792224"/>
            <a:ext cx="54864" cy="290779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9385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9936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94176" y="2441448"/>
            <a:ext cx="2075688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Matplotlib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Seaborn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54496" y="1737360"/>
            <a:ext cx="2624328" cy="301752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54496" y="1792224"/>
            <a:ext cx="54864" cy="290779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6" name="Image 2" descr="/home/claude/work/ppt/icons/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9385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12864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47104" y="2441448"/>
            <a:ext cx="2075688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Scikit-learn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K-Means · PCA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 classifiers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107424" y="1737360"/>
            <a:ext cx="2624328" cy="3017520"/>
          </a:xfrm>
          <a:prstGeom prst="roundRect">
            <a:avLst>
              <a:gd name="adj" fmla="val 278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07424" y="1792224"/>
            <a:ext cx="54864" cy="290779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21" name="Image 3" descr="/home/claude/work/ppt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19385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65792" y="1901952"/>
            <a:ext cx="170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Source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00032" y="2441448"/>
            <a:ext cx="2075688" cy="2130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Jupyter Notebook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Kaggle datasets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 —  Cardiovascular Disease Prediction (Supervised Pipeline)</a:t>
            </a:r>
            <a:endParaRPr lang="en-US" sz="1400" dirty="0"/>
          </a:p>
        </p:txBody>
      </p:sp>
      <p:pic>
        <p:nvPicPr>
          <p:cNvPr id="5" name="Image 0" descr="/home/claude/work/ppt/icons/arch_card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11064240" cy="1874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069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 —  Spotify Songs’ Genre Segmentation (Unsupervised Pipeline)</a:t>
            </a:r>
            <a:endParaRPr lang="en-US" sz="1400" dirty="0"/>
          </a:p>
        </p:txBody>
      </p:sp>
      <p:pic>
        <p:nvPicPr>
          <p:cNvPr id="7" name="Image 1" descr="/home/claude/work/ppt/icons/arch_spotif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34840"/>
            <a:ext cx="11064240" cy="1874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1: Cardiovascular Disease Prediction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55064"/>
            <a:ext cx="54864" cy="400507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013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Challenge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304288"/>
            <a:ext cx="4800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the leading cause of death worldwide — the WHO estimates 19.8 million deaths in 2022, close to a third of all deaths globally. Many risk factors (blood pressure, cholesterol, glucose, lifestyle habits) are measurable well before a cardiac event, motivating data-driven early screening from routine health-check data.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655064"/>
            <a:ext cx="54864" cy="400507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8013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2008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304288"/>
            <a:ext cx="4800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anonymized patient records (68,613 after cleaning)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clinical &amp; lifestyle attributes: age, gender, height, weight, blood pressure, cholesterol, glucose, smoking, alcohol, activity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engineered features: age in years, BMI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target: presence / absence of cardiovascular disease (near-perfectly balanced, ~50/50)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— Exploratory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prevalence rises steadily with age and BMI, and sharply with cholesterol — from 43.5% (normal) to 76.2% (well above normal).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 (0.43), diastolic BP (0.34), age (0.24) and cholesterol (0.22) are the attributes most correlated with disease.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Smoking, alcohol and activity show only a weak relationship in the raw data — most likely self-report bias rather than a true protective effect.</a:t>
            </a:r>
            <a:endParaRPr lang="en-US" sz="1350" dirty="0"/>
          </a:p>
        </p:txBody>
      </p:sp>
      <p:pic>
        <p:nvPicPr>
          <p:cNvPr id="5" name="Image 0" descr="/home/claude/work/ppt/assets/cardio_4_7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08760"/>
            <a:ext cx="56235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— Model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577840" cy="2377440"/>
        </p:xfrm>
        <a:graphic>
          <a:graphicData uri="http://schemas.openxmlformats.org/drawingml/2006/table">
            <a:tbl>
              <a:tblPr/>
              <a:tblGrid>
                <a:gridCol w="2468880"/>
                <a:gridCol w="1033272"/>
                <a:gridCol w="1033272"/>
                <a:gridCol w="1033272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Vector Machine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73.17%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75.45%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16052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the best performer at 73.53% accuracy. All five models cluster within a narrow 72–74% band — the ceiling here is set more by overlap in the clinical data itself than by algorithm choice.</a:t>
            </a:r>
            <a:endParaRPr lang="en-US" sz="1250" dirty="0"/>
          </a:p>
        </p:txBody>
      </p:sp>
      <p:pic>
        <p:nvPicPr>
          <p:cNvPr id="6" name="Image 0" descr="/home/claude/work/ppt/assets/cardio_4_9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00200"/>
            <a:ext cx="5257800" cy="29535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2: Spotify Songs’ Genre Segmentation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55064"/>
            <a:ext cx="54864" cy="400507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6" name="Image 0" descr="/home/claude/work/ppt/icons/mu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8013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Music Challenge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2304288"/>
            <a:ext cx="4800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platforms curate music using numerical audio features (danceability, energy, valence, tempo) as much as explicit choices. Genre is a human, cultural label layered on a continuous acoustic space — two songs in the same genre can sound very different. This project explores whether audio features alone can recover meaningful genre-like groupings.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655064"/>
            <a:ext cx="54864" cy="4005072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11" name="Image 1" descr="/home/claude/work/ppt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8013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2008" y="176479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304288"/>
            <a:ext cx="4800600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32,833 Spotify tracks (28,352 unique after de-duplication)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playlist genres: pop, rap, rock, latin, r&amp;b, edm — across 24 subgenres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numerical audio features used: danceability, energy, key, loudness, mode, speechiness, acousticness, instrumentalness, liveness, valence, tempo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task — genre label used only to validate clusters afterward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— Exploratory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4" name="Image 0" descr="/home/claude/work/ppt/assets/spotify_1_genre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2120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89320" y="1737360"/>
            <a:ext cx="5623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genres are fairly evenly represented (4,136–5,398 tracks each), so no single genre dominates the clustering by sample size alone.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 has the highest energy and lowest acousticness; rock has the lowest danceability; latin has the highest valence.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F5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loudness are strongly positively correlated; energy and acousticness are strongly negatively correlated.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— Clustering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4" name="Image 0" descr="/home/claude/work/ppt/assets/spotify_7_pca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6949440" cy="2944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5544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D2C58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645920"/>
            <a:ext cx="1645920" cy="7955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26680" y="2404872"/>
            <a:ext cx="164592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CHOSEN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46920" y="15544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1D2C58"/>
          </a:solidFill>
          <a:ln/>
        </p:spPr>
      </p:sp>
      <p:sp>
        <p:nvSpPr>
          <p:cNvPr id="9" name="Text 6"/>
          <p:cNvSpPr/>
          <p:nvPr/>
        </p:nvSpPr>
        <p:spPr>
          <a:xfrm>
            <a:off x="9784080" y="1645920"/>
            <a:ext cx="1783080" cy="7955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784080" y="2404872"/>
            <a:ext cx="17830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31089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(58.0%) and EDM (57.7%)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the purest clusters — each has a distinctive acoustic signature (high speechiness for rap; high energy, low acousticness for EDM) that K-Means isolates without ever seeing the genre label.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457200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Pop, latin, r&amp;b and rock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much more (21–32% purity) — audio features alone don’t cleanly separate these genres.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 &amp; Skills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4" name="Image 0" descr="/home/claude/work/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992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184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Pipelines: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Cleaned and engineered two real-world datasets totalling nearly 97,000 records, from raw CSV to analysis-ready form.</a:t>
            </a:r>
            <a:endParaRPr lang="en-US" sz="1350" dirty="0"/>
          </a:p>
        </p:txBody>
      </p:sp>
      <p:pic>
        <p:nvPicPr>
          <p:cNvPr id="6" name="Image 1" descr="/home/claude/work/pp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7860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48716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Classification: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Trained and compared 5 algorithms (Logistic Regression, KNN, SVM, Decision Tree, Random Forest), reaching 73.53% accuracy with SVM.</a:t>
            </a:r>
            <a:endParaRPr lang="en-US" sz="1350" dirty="0"/>
          </a:p>
        </p:txBody>
      </p:sp>
      <p:pic>
        <p:nvPicPr>
          <p:cNvPr id="8" name="Image 2" descr="/home/claude/work/pp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4728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35584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Clustering: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Applied K-Means and PCA to segment 28,352 tracks by audio features, and validated clusters against real genre labels.</a:t>
            </a:r>
            <a:endParaRPr lang="en-US" sz="1350" dirty="0"/>
          </a:p>
        </p:txBody>
      </p:sp>
      <p:pic>
        <p:nvPicPr>
          <p:cNvPr id="10" name="Image 3" descr="/home/claude/work/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1596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422452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&amp; Visual Storytelling: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Produced 22 charts — correlation heatmaps, cluster plots, confusion matrices — to communicate findings clearly.</a:t>
            </a:r>
            <a:endParaRPr lang="en-US" sz="1350" dirty="0"/>
          </a:p>
        </p:txBody>
      </p:sp>
      <p:pic>
        <p:nvPicPr>
          <p:cNvPr id="12" name="Image 4" descr="/home/claude/work/ppt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184648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509320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Honest Evaluation: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Reported counter-intuitive and weak results (e.g. smoking vs. disease rate, low silhouette score) rather than only favourable ones.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Official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93192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Record / Credential Details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Internship Title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Intelligence Internship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Issuing Organization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Corizo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December 2025 – 05 January 2026 (1 Month)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Corizo Dice 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CRZ140452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Head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Hemant Ingle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Certifying Partner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56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IIT Bombay’s Mood Indigo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Certificate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69848"/>
            <a:ext cx="11064240" cy="32004"/>
          </a:xfrm>
          <a:prstGeom prst="rect">
            <a:avLst/>
          </a:prstGeom>
          <a:solidFill>
            <a:srgbClr val="2F5CDD"/>
          </a:solidFill>
          <a:ln/>
        </p:spPr>
      </p:sp>
      <p:pic>
        <p:nvPicPr>
          <p:cNvPr id="4" name="Image 0" descr="/home/claude/work/ppt/assets/certifica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8248" y="1554480"/>
            <a:ext cx="7315200" cy="48270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  |  25SCS1003001426  |  Corizo AI Internship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666848" y="3657600"/>
            <a:ext cx="6858000" cy="137160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1E4EA"/>
            </a:solidFill>
            <a:prstDash val="solid"/>
          </a:ln>
        </p:spPr>
      </p:sp>
      <p:pic>
        <p:nvPicPr>
          <p:cNvPr id="4" name="Image 0" descr="/home/claude/work/ppt/icons/candid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2608" y="3977640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89808" y="391363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Arham Jain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25SCS1003001426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5848" y="3886200"/>
            <a:ext cx="0" cy="822960"/>
          </a:xfrm>
          <a:prstGeom prst="line">
            <a:avLst/>
          </a:prstGeom>
          <a:noFill/>
          <a:ln w="12700">
            <a:solidFill>
              <a:srgbClr val="E1E4EA"/>
            </a:solidFill>
            <a:prstDash val="solid"/>
          </a:ln>
        </p:spPr>
      </p:sp>
      <p:pic>
        <p:nvPicPr>
          <p:cNvPr id="7" name="Image 1" descr="/home/claude/work/ppt/icons/univers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8" y="397764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7368" y="391363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8891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2026-08-30T07:27:04Z</dcterms:created>
  <dcterms:modified xsi:type="dcterms:W3CDTF">2026-08-30T07:27:04Z</dcterms:modified>
</cp:coreProperties>
</file>